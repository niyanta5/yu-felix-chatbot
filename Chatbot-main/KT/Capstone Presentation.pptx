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1"/>
    <p:restoredTop sz="94610"/>
  </p:normalViewPr>
  <p:slideViewPr>
    <p:cSldViewPr snapToGrid="0" snapToObjects="1">
      <p:cViewPr varScale="1">
        <p:scale>
          <a:sx n="103" d="100"/>
          <a:sy n="103" d="100"/>
        </p:scale>
        <p:origin x="208" y="3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870069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958697"/>
            <a:ext cx="7556421" cy="1488519"/>
          </a:xfrm>
          <a:prstGeom prst="rect">
            <a:avLst/>
          </a:prstGeom>
          <a:noFill/>
          <a:ln/>
        </p:spPr>
        <p:txBody>
          <a:bodyPr wrap="square" lIns="0" tIns="0" rIns="0" bIns="0" rtlCol="0" anchor="t"/>
          <a:lstStyle/>
          <a:p>
            <a:pPr marL="0" indent="0" algn="l">
              <a:lnSpc>
                <a:spcPts val="5850"/>
              </a:lnSpc>
              <a:buNone/>
            </a:pPr>
            <a:r>
              <a:rPr lang="en-US" sz="4650" b="1" dirty="0">
                <a:solidFill>
                  <a:srgbClr val="000000"/>
                </a:solidFill>
                <a:latin typeface="Calibri" panose="020F0502020204030204" pitchFamily="34" charset="0"/>
                <a:ea typeface="Petrona Bold" pitchFamily="34" charset="-122"/>
                <a:cs typeface="Calibri" panose="020F0502020204030204" pitchFamily="34" charset="0"/>
              </a:rPr>
              <a:t>Felix – Canvas Support Chatbot (RAG-based)</a:t>
            </a:r>
            <a:endParaRPr lang="en-US" sz="4650" dirty="0">
              <a:latin typeface="Calibri" panose="020F0502020204030204" pitchFamily="34" charset="0"/>
              <a:cs typeface="Calibri" panose="020F0502020204030204" pitchFamily="34" charset="0"/>
            </a:endParaRPr>
          </a:p>
        </p:txBody>
      </p:sp>
      <p:sp>
        <p:nvSpPr>
          <p:cNvPr id="4" name="Text 1"/>
          <p:cNvSpPr/>
          <p:nvPr/>
        </p:nvSpPr>
        <p:spPr>
          <a:xfrm>
            <a:off x="793790" y="3787378"/>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AI chatbot for Yeshiva University students</a:t>
            </a:r>
            <a:endParaRPr lang="en-US" sz="1750" dirty="0">
              <a:latin typeface="Calibri" panose="020F0502020204030204" pitchFamily="34" charset="0"/>
              <a:cs typeface="Calibri" panose="020F0502020204030204" pitchFamily="34" charset="0"/>
            </a:endParaRPr>
          </a:p>
        </p:txBody>
      </p:sp>
      <p:sp>
        <p:nvSpPr>
          <p:cNvPr id="5" name="Text 2"/>
          <p:cNvSpPr/>
          <p:nvPr/>
        </p:nvSpPr>
        <p:spPr>
          <a:xfrm>
            <a:off x="793790" y="4405432"/>
            <a:ext cx="7556421" cy="1502449"/>
          </a:xfrm>
          <a:prstGeom prst="rect">
            <a:avLst/>
          </a:prstGeom>
          <a:noFill/>
          <a:ln/>
        </p:spPr>
        <p:txBody>
          <a:bodyPr wrap="none" lIns="0" tIns="0" rIns="0" bIns="0" rtlCol="0" anchor="t"/>
          <a:lstStyle/>
          <a:p>
            <a:pPr marL="0" indent="0" algn="l">
              <a:lnSpc>
                <a:spcPts val="2850"/>
              </a:lnSpc>
              <a:buNone/>
            </a:pPr>
            <a:r>
              <a:rPr lang="en-US" sz="1750" b="1" dirty="0">
                <a:solidFill>
                  <a:srgbClr val="272525"/>
                </a:solidFill>
                <a:latin typeface="Calibri" panose="020F0502020204030204" pitchFamily="34" charset="0"/>
                <a:ea typeface="Inter" pitchFamily="34" charset="-122"/>
                <a:cs typeface="Calibri" panose="020F0502020204030204" pitchFamily="34" charset="0"/>
              </a:rPr>
              <a:t>By</a:t>
            </a:r>
          </a:p>
          <a:p>
            <a:pPr marL="285750" indent="-285750">
              <a:lnSpc>
                <a:spcPts val="2850"/>
              </a:lnSpc>
              <a:buFont typeface="Arial" panose="020B0604020202020204" pitchFamily="34" charset="0"/>
              <a:buChar char="•"/>
            </a:pPr>
            <a:r>
              <a:rPr lang="en-US" sz="1750" dirty="0">
                <a:solidFill>
                  <a:srgbClr val="272525"/>
                </a:solidFill>
                <a:latin typeface="Calibri" panose="020F0502020204030204" pitchFamily="34" charset="0"/>
                <a:ea typeface="Inter" pitchFamily="34" charset="-122"/>
                <a:cs typeface="Calibri" panose="020F0502020204030204" pitchFamily="34" charset="0"/>
              </a:rPr>
              <a:t>Dheeraj Singh Shankar</a:t>
            </a:r>
          </a:p>
          <a:p>
            <a:pPr marL="285750" indent="-285750">
              <a:lnSpc>
                <a:spcPts val="2850"/>
              </a:lnSpc>
              <a:buSzPct val="100000"/>
              <a:buFont typeface="Arial" panose="020B0604020202020204" pitchFamily="34" charset="0"/>
              <a:buChar char="•"/>
            </a:pPr>
            <a:r>
              <a:rPr lang="en-US" sz="1750" dirty="0">
                <a:solidFill>
                  <a:srgbClr val="272525"/>
                </a:solidFill>
                <a:latin typeface="Calibri" panose="020F0502020204030204" pitchFamily="34" charset="0"/>
                <a:ea typeface="Inter" pitchFamily="34" charset="-122"/>
                <a:cs typeface="Calibri" panose="020F0502020204030204" pitchFamily="34" charset="0"/>
              </a:rPr>
              <a:t>Shashank Shekhar</a:t>
            </a:r>
          </a:p>
          <a:p>
            <a:pPr marL="285750" indent="-285750" algn="l">
              <a:lnSpc>
                <a:spcPts val="2850"/>
              </a:lnSpc>
              <a:buSzPct val="100000"/>
              <a:buFont typeface="Arial" panose="020B0604020202020204" pitchFamily="34" charset="0"/>
              <a:buChar char="•"/>
            </a:pPr>
            <a:r>
              <a:rPr lang="en-US" sz="1750" dirty="0">
                <a:solidFill>
                  <a:srgbClr val="272525"/>
                </a:solidFill>
                <a:latin typeface="Calibri" panose="020F0502020204030204" pitchFamily="34" charset="0"/>
                <a:ea typeface="Inter" pitchFamily="34" charset="-122"/>
                <a:cs typeface="Calibri" panose="020F0502020204030204" pitchFamily="34" charset="0"/>
              </a:rPr>
              <a:t>Chaitanya Devarshi</a:t>
            </a:r>
            <a:endParaRPr lang="en-US" sz="1750" dirty="0">
              <a:latin typeface="Calibri" panose="020F0502020204030204" pitchFamily="34" charset="0"/>
              <a:cs typeface="Calibri" panose="020F0502020204030204" pitchFamily="34" charset="0"/>
            </a:endParaRPr>
          </a:p>
          <a:p>
            <a:pPr marL="0" indent="0" algn="l">
              <a:lnSpc>
                <a:spcPts val="2850"/>
              </a:lnSpc>
              <a:buNone/>
            </a:pPr>
            <a:endParaRPr lang="en-US" sz="1750" b="1" dirty="0">
              <a:solidFill>
                <a:srgbClr val="272525"/>
              </a:solidFill>
              <a:latin typeface="Calibri" panose="020F0502020204030204" pitchFamily="34" charset="0"/>
              <a:ea typeface="Inter" pitchFamily="34" charset="-122"/>
              <a:cs typeface="Calibri" panose="020F0502020204030204" pitchFamily="34" charset="0"/>
            </a:endParaRPr>
          </a:p>
          <a:p>
            <a:pPr marL="0" indent="0" algn="l">
              <a:lnSpc>
                <a:spcPts val="2850"/>
              </a:lnSpc>
              <a:buNone/>
            </a:pPr>
            <a:r>
              <a:rPr lang="en-US" sz="1750" b="1" dirty="0">
                <a:solidFill>
                  <a:srgbClr val="272525"/>
                </a:solidFill>
                <a:latin typeface="Calibri" panose="020F0502020204030204" pitchFamily="34" charset="0"/>
                <a:ea typeface="Inter" pitchFamily="34" charset="-122"/>
                <a:cs typeface="Calibri" panose="020F0502020204030204" pitchFamily="34" charset="0"/>
              </a:rPr>
              <a:t> </a:t>
            </a:r>
            <a:endParaRPr lang="en-US" sz="1750" b="1" dirty="0">
              <a:latin typeface="Calibri" panose="020F0502020204030204" pitchFamily="34" charset="0"/>
              <a:cs typeface="Calibri" panose="020F0502020204030204" pitchFamily="34" charset="0"/>
            </a:endParaRPr>
          </a:p>
        </p:txBody>
      </p:sp>
      <p:sp>
        <p:nvSpPr>
          <p:cNvPr id="7" name="Text 4"/>
          <p:cNvSpPr/>
          <p:nvPr/>
        </p:nvSpPr>
        <p:spPr>
          <a:xfrm>
            <a:off x="793790" y="5465683"/>
            <a:ext cx="7556421" cy="362903"/>
          </a:xfrm>
          <a:prstGeom prst="rect">
            <a:avLst/>
          </a:prstGeom>
          <a:noFill/>
          <a:ln/>
        </p:spPr>
        <p:txBody>
          <a:bodyPr wrap="none" lIns="0" tIns="0" rIns="0" bIns="0" rtlCol="0" anchor="t"/>
          <a:lstStyle/>
          <a:p>
            <a:pPr marL="342900" indent="-342900" algn="l">
              <a:lnSpc>
                <a:spcPts val="2850"/>
              </a:lnSpc>
              <a:buSzPct val="100000"/>
              <a:buChar char="•"/>
            </a:pPr>
            <a:endParaRPr lang="en-US" sz="1750" dirty="0"/>
          </a:p>
        </p:txBody>
      </p:sp>
      <p:sp>
        <p:nvSpPr>
          <p:cNvPr id="8" name="Text 5"/>
          <p:cNvSpPr/>
          <p:nvPr/>
        </p:nvSpPr>
        <p:spPr>
          <a:xfrm>
            <a:off x="793790" y="5907881"/>
            <a:ext cx="7556421" cy="362903"/>
          </a:xfrm>
          <a:prstGeom prst="rect">
            <a:avLst/>
          </a:prstGeom>
          <a:noFill/>
          <a:ln/>
        </p:spPr>
        <p:txBody>
          <a:bodyPr wrap="none" lIns="0" tIns="0" rIns="0" bIns="0" rtlCol="0" anchor="t"/>
          <a:lstStyle/>
          <a:p>
            <a:pPr marL="342900" indent="-342900">
              <a:lnSpc>
                <a:spcPts val="2850"/>
              </a:lnSpc>
              <a:buSzPct val="100000"/>
              <a:buFontTx/>
              <a:buChar char="•"/>
            </a:pPr>
            <a:endParaRPr lang="en-US" sz="1750" dirty="0"/>
          </a:p>
        </p:txBody>
      </p:sp>
      <p:sp>
        <p:nvSpPr>
          <p:cNvPr id="9" name="TextBox 8">
            <a:extLst>
              <a:ext uri="{FF2B5EF4-FFF2-40B4-BE49-F238E27FC236}">
                <a16:creationId xmlns:a16="http://schemas.microsoft.com/office/drawing/2014/main" id="{ABC6DACE-18DF-2C82-BA74-6C27CB56CDC7}"/>
              </a:ext>
            </a:extLst>
          </p:cNvPr>
          <p:cNvSpPr txBox="1"/>
          <p:nvPr/>
        </p:nvSpPr>
        <p:spPr>
          <a:xfrm>
            <a:off x="3212757" y="6054811"/>
            <a:ext cx="184731" cy="369332"/>
          </a:xfrm>
          <a:prstGeom prst="rect">
            <a:avLst/>
          </a:prstGeom>
          <a:noFill/>
        </p:spPr>
        <p:txBody>
          <a:bodyPr wrap="none" rtlCol="0">
            <a:spAutoFit/>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83488" y="294799"/>
            <a:ext cx="4919305" cy="7639883"/>
          </a:xfrm>
          <a:prstGeom prst="rect">
            <a:avLst/>
          </a:prstGeom>
        </p:spPr>
      </p:pic>
      <p:sp>
        <p:nvSpPr>
          <p:cNvPr id="4" name="Text 0"/>
          <p:cNvSpPr/>
          <p:nvPr/>
        </p:nvSpPr>
        <p:spPr>
          <a:xfrm>
            <a:off x="6280190" y="1756291"/>
            <a:ext cx="5954197"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Calibri" panose="020F0502020204030204" pitchFamily="34" charset="0"/>
                <a:ea typeface="Petrona Bold" pitchFamily="34" charset="-122"/>
                <a:cs typeface="Calibri" panose="020F0502020204030204" pitchFamily="34" charset="0"/>
              </a:rPr>
              <a:t>Meet Felix</a:t>
            </a:r>
            <a:endParaRPr lang="en-US" sz="4650" dirty="0">
              <a:latin typeface="Calibri" panose="020F0502020204030204" pitchFamily="34" charset="0"/>
              <a:cs typeface="Calibri" panose="020F0502020204030204" pitchFamily="34" charset="0"/>
            </a:endParaRPr>
          </a:p>
        </p:txBody>
      </p:sp>
      <p:sp>
        <p:nvSpPr>
          <p:cNvPr id="5" name="Shape 1"/>
          <p:cNvSpPr/>
          <p:nvPr/>
        </p:nvSpPr>
        <p:spPr>
          <a:xfrm>
            <a:off x="6280190" y="2840712"/>
            <a:ext cx="3664863" cy="2065734"/>
          </a:xfrm>
          <a:prstGeom prst="roundRect">
            <a:avLst>
              <a:gd name="adj" fmla="val 4612"/>
            </a:avLst>
          </a:prstGeom>
          <a:solidFill>
            <a:srgbClr val="CCEEFF"/>
          </a:solidFill>
          <a:ln w="7620">
            <a:solidFill>
              <a:srgbClr val="B2D4E5"/>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6" name="Text 2"/>
          <p:cNvSpPr/>
          <p:nvPr/>
        </p:nvSpPr>
        <p:spPr>
          <a:xfrm>
            <a:off x="6514624" y="3075146"/>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Calibri" panose="020F0502020204030204" pitchFamily="34" charset="0"/>
                <a:ea typeface="Petrona Bold" pitchFamily="34" charset="-122"/>
                <a:cs typeface="Calibri" panose="020F0502020204030204" pitchFamily="34" charset="0"/>
              </a:rPr>
              <a:t>AI-Powered Support</a:t>
            </a:r>
            <a:endParaRPr lang="en-US" sz="2300" dirty="0">
              <a:latin typeface="Calibri" panose="020F0502020204030204" pitchFamily="34" charset="0"/>
              <a:cs typeface="Calibri" panose="020F0502020204030204" pitchFamily="34" charset="0"/>
            </a:endParaRPr>
          </a:p>
        </p:txBody>
      </p:sp>
      <p:sp>
        <p:nvSpPr>
          <p:cNvPr id="7" name="Text 3"/>
          <p:cNvSpPr/>
          <p:nvPr/>
        </p:nvSpPr>
        <p:spPr>
          <a:xfrm>
            <a:off x="6514624" y="3583305"/>
            <a:ext cx="3195995" cy="1088708"/>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Helps students navigate Canvas and academic questions</a:t>
            </a:r>
            <a:endParaRPr lang="en-US" sz="1750" dirty="0">
              <a:latin typeface="Calibri" panose="020F0502020204030204" pitchFamily="34" charset="0"/>
              <a:cs typeface="Calibri" panose="020F0502020204030204" pitchFamily="34" charset="0"/>
            </a:endParaRPr>
          </a:p>
        </p:txBody>
      </p:sp>
      <p:sp>
        <p:nvSpPr>
          <p:cNvPr id="8" name="Shape 4"/>
          <p:cNvSpPr/>
          <p:nvPr/>
        </p:nvSpPr>
        <p:spPr>
          <a:xfrm>
            <a:off x="10171867" y="2840712"/>
            <a:ext cx="3664863" cy="2065734"/>
          </a:xfrm>
          <a:prstGeom prst="roundRect">
            <a:avLst>
              <a:gd name="adj" fmla="val 4612"/>
            </a:avLst>
          </a:prstGeom>
          <a:solidFill>
            <a:srgbClr val="CCEEFF"/>
          </a:solidFill>
          <a:ln w="7620">
            <a:solidFill>
              <a:srgbClr val="B2D4E5"/>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9" name="Text 5"/>
          <p:cNvSpPr/>
          <p:nvPr/>
        </p:nvSpPr>
        <p:spPr>
          <a:xfrm>
            <a:off x="10406301" y="3075146"/>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Calibri" panose="020F0502020204030204" pitchFamily="34" charset="0"/>
                <a:ea typeface="Petrona Bold" pitchFamily="34" charset="-122"/>
                <a:cs typeface="Calibri" panose="020F0502020204030204" pitchFamily="34" charset="0"/>
              </a:rPr>
              <a:t>Multi-Tech Approach</a:t>
            </a:r>
            <a:endParaRPr lang="en-US" sz="2300" dirty="0">
              <a:latin typeface="Calibri" panose="020F0502020204030204" pitchFamily="34" charset="0"/>
              <a:cs typeface="Calibri" panose="020F0502020204030204" pitchFamily="34" charset="0"/>
            </a:endParaRPr>
          </a:p>
        </p:txBody>
      </p:sp>
      <p:sp>
        <p:nvSpPr>
          <p:cNvPr id="10" name="Text 6"/>
          <p:cNvSpPr/>
          <p:nvPr/>
        </p:nvSpPr>
        <p:spPr>
          <a:xfrm>
            <a:off x="10406301" y="3583305"/>
            <a:ext cx="3195995"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Combines rule-based, semantic, and generative AI</a:t>
            </a:r>
            <a:endParaRPr lang="en-US" sz="1750" dirty="0">
              <a:latin typeface="Calibri" panose="020F0502020204030204" pitchFamily="34" charset="0"/>
              <a:cs typeface="Calibri" panose="020F0502020204030204" pitchFamily="34" charset="0"/>
            </a:endParaRPr>
          </a:p>
        </p:txBody>
      </p:sp>
      <p:sp>
        <p:nvSpPr>
          <p:cNvPr id="11" name="Shape 7"/>
          <p:cNvSpPr/>
          <p:nvPr/>
        </p:nvSpPr>
        <p:spPr>
          <a:xfrm>
            <a:off x="6280190" y="5133261"/>
            <a:ext cx="7556421" cy="1339929"/>
          </a:xfrm>
          <a:prstGeom prst="roundRect">
            <a:avLst>
              <a:gd name="adj" fmla="val 7110"/>
            </a:avLst>
          </a:prstGeom>
          <a:solidFill>
            <a:srgbClr val="CCEEFF"/>
          </a:solidFill>
          <a:ln w="7620">
            <a:solidFill>
              <a:srgbClr val="B2D4E5"/>
            </a:solidFill>
            <a:prstDash val="solid"/>
          </a:ln>
        </p:spPr>
        <p:txBody>
          <a:bodyPr/>
          <a:lstStyle/>
          <a:p>
            <a:endParaRPr lang="en-US">
              <a:latin typeface="Calibri" panose="020F0502020204030204" pitchFamily="34" charset="0"/>
              <a:cs typeface="Calibri" panose="020F0502020204030204" pitchFamily="34" charset="0"/>
            </a:endParaRPr>
          </a:p>
        </p:txBody>
      </p:sp>
      <p:sp>
        <p:nvSpPr>
          <p:cNvPr id="12" name="Text 8"/>
          <p:cNvSpPr/>
          <p:nvPr/>
        </p:nvSpPr>
        <p:spPr>
          <a:xfrm>
            <a:off x="6514624" y="536769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Calibri" panose="020F0502020204030204" pitchFamily="34" charset="0"/>
                <a:ea typeface="Petrona Bold" pitchFamily="34" charset="-122"/>
                <a:cs typeface="Calibri" panose="020F0502020204030204" pitchFamily="34" charset="0"/>
              </a:rPr>
              <a:t>24/7 Availability</a:t>
            </a:r>
            <a:endParaRPr lang="en-US" sz="2300" dirty="0">
              <a:latin typeface="Calibri" panose="020F0502020204030204" pitchFamily="34" charset="0"/>
              <a:cs typeface="Calibri" panose="020F0502020204030204" pitchFamily="34" charset="0"/>
            </a:endParaRPr>
          </a:p>
        </p:txBody>
      </p:sp>
      <p:sp>
        <p:nvSpPr>
          <p:cNvPr id="13" name="Text 9"/>
          <p:cNvSpPr/>
          <p:nvPr/>
        </p:nvSpPr>
        <p:spPr>
          <a:xfrm>
            <a:off x="6514624" y="5875853"/>
            <a:ext cx="7087553"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Supports assignments, schedules, grades, and career tools</a:t>
            </a:r>
            <a:endParaRPr lang="en-US" sz="1750" dirty="0">
              <a:latin typeface="Calibri" panose="020F0502020204030204" pitchFamily="34" charset="0"/>
              <a:cs typeface="Calibri" panose="020F050202020403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488" y="425172"/>
            <a:ext cx="4919424" cy="7379137"/>
          </a:xfrm>
          <a:prstGeom prst="rect">
            <a:avLst/>
          </a:prstGeom>
        </p:spPr>
      </p:pic>
      <p:sp>
        <p:nvSpPr>
          <p:cNvPr id="4" name="Text 0"/>
          <p:cNvSpPr/>
          <p:nvPr/>
        </p:nvSpPr>
        <p:spPr>
          <a:xfrm>
            <a:off x="793790" y="3742611"/>
            <a:ext cx="5954197"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Calibri" panose="020F0502020204030204" pitchFamily="34" charset="0"/>
                <a:ea typeface="Petrona Bold" pitchFamily="34" charset="-122"/>
                <a:cs typeface="Calibri" panose="020F0502020204030204" pitchFamily="34" charset="0"/>
              </a:rPr>
              <a:t>Chatbot Architecture</a:t>
            </a:r>
            <a:endParaRPr lang="en-US" sz="4650" dirty="0">
              <a:latin typeface="Calibri" panose="020F0502020204030204" pitchFamily="34" charset="0"/>
              <a:cs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735331" y="0"/>
            <a:ext cx="6895070" cy="8229600"/>
          </a:xfrm>
          <a:prstGeom prst="rect">
            <a:avLst/>
          </a:prstGeom>
        </p:spPr>
      </p:pic>
      <p:pic>
        <p:nvPicPr>
          <p:cNvPr id="3" name="Image 1" descr="preencoded.png"/>
          <p:cNvPicPr>
            <a:picLocks noChangeAspect="1"/>
          </p:cNvPicPr>
          <p:nvPr/>
        </p:nvPicPr>
        <p:blipFill>
          <a:blip r:embed="rId4"/>
          <a:srcRect l="8714" t="1635" r="8828" b="2122"/>
          <a:stretch/>
        </p:blipFill>
        <p:spPr>
          <a:xfrm>
            <a:off x="7935996" y="1269353"/>
            <a:ext cx="6493739" cy="5690893"/>
          </a:xfrm>
          <a:prstGeom prst="rect">
            <a:avLst/>
          </a:prstGeom>
        </p:spPr>
      </p:pic>
      <p:sp>
        <p:nvSpPr>
          <p:cNvPr id="4" name="Text 0"/>
          <p:cNvSpPr/>
          <p:nvPr/>
        </p:nvSpPr>
        <p:spPr>
          <a:xfrm>
            <a:off x="793790" y="1136822"/>
            <a:ext cx="7052751" cy="1947730"/>
          </a:xfrm>
          <a:prstGeom prst="rect">
            <a:avLst/>
          </a:prstGeom>
          <a:noFill/>
          <a:ln/>
        </p:spPr>
        <p:txBody>
          <a:bodyPr wrap="none" lIns="0" tIns="0" rIns="0" bIns="0" rtlCol="0" anchor="t"/>
          <a:lstStyle/>
          <a:p>
            <a:pPr marL="0" indent="0" algn="l">
              <a:lnSpc>
                <a:spcPts val="2900"/>
              </a:lnSpc>
              <a:buNone/>
            </a:pPr>
            <a:endParaRPr lang="en-US" sz="4650" dirty="0"/>
          </a:p>
        </p:txBody>
      </p:sp>
      <p:sp>
        <p:nvSpPr>
          <p:cNvPr id="5" name="Text 1"/>
          <p:cNvSpPr/>
          <p:nvPr/>
        </p:nvSpPr>
        <p:spPr>
          <a:xfrm>
            <a:off x="290120" y="3084552"/>
            <a:ext cx="7235145" cy="2315351"/>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The process starts when a user submits a question. The system first searches a CSV file using string matching, then consults FAQs and the Vectorstore as needed. After preparing relevant context, a prompt is sent to OpenAI GPT-4, which generates intelligent and pertinent responses. The flowchart visually represents each step with clear, descriptive icons.</a:t>
            </a:r>
            <a:endParaRPr lang="en-US" sz="1750"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5B00CB3A-3853-02D2-BAE0-3EC21E5310A2}"/>
              </a:ext>
            </a:extLst>
          </p:cNvPr>
          <p:cNvSpPr txBox="1"/>
          <p:nvPr/>
        </p:nvSpPr>
        <p:spPr>
          <a:xfrm>
            <a:off x="73186" y="1205979"/>
            <a:ext cx="8144057" cy="1523494"/>
          </a:xfrm>
          <a:prstGeom prst="rect">
            <a:avLst/>
          </a:prstGeom>
          <a:noFill/>
        </p:spPr>
        <p:txBody>
          <a:bodyPr wrap="square" rtlCol="0">
            <a:spAutoFit/>
          </a:bodyPr>
          <a:lstStyle/>
          <a:p>
            <a:r>
              <a:rPr lang="en-US" sz="4650" b="1" dirty="0">
                <a:solidFill>
                  <a:srgbClr val="000000"/>
                </a:solidFill>
                <a:latin typeface="Calibri" panose="020F0502020204030204" pitchFamily="34" charset="0"/>
                <a:ea typeface="Petrona Bold" pitchFamily="34" charset="-122"/>
                <a:cs typeface="Calibri" panose="020F0502020204030204" pitchFamily="34" charset="0"/>
              </a:rPr>
              <a:t>Felix Chatbot's Response Workflow</a:t>
            </a:r>
            <a:endParaRPr lang="en-US" sz="4650" dirty="0">
              <a:latin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15200" y="0"/>
            <a:ext cx="7315200" cy="8229600"/>
          </a:xfrm>
          <a:prstGeom prst="rect">
            <a:avLst/>
          </a:prstGeom>
        </p:spPr>
      </p:pic>
      <p:pic>
        <p:nvPicPr>
          <p:cNvPr id="3" name="Image 1" descr="preencoded.png"/>
          <p:cNvPicPr>
            <a:picLocks noChangeAspect="1"/>
          </p:cNvPicPr>
          <p:nvPr/>
        </p:nvPicPr>
        <p:blipFill rotWithShape="1">
          <a:blip r:embed="rId4"/>
          <a:srcRect l="4408" t="4802" r="6739" b="5146"/>
          <a:stretch/>
        </p:blipFill>
        <p:spPr>
          <a:xfrm>
            <a:off x="7945395" y="1807571"/>
            <a:ext cx="6064210" cy="4614457"/>
          </a:xfrm>
          <a:prstGeom prst="rect">
            <a:avLst/>
          </a:prstGeom>
        </p:spPr>
      </p:pic>
      <p:sp>
        <p:nvSpPr>
          <p:cNvPr id="4" name="Text 0"/>
          <p:cNvSpPr/>
          <p:nvPr/>
        </p:nvSpPr>
        <p:spPr>
          <a:xfrm>
            <a:off x="793790" y="2111693"/>
            <a:ext cx="5727621" cy="1488519"/>
          </a:xfrm>
          <a:prstGeom prst="rect">
            <a:avLst/>
          </a:prstGeom>
          <a:noFill/>
          <a:ln/>
        </p:spPr>
        <p:txBody>
          <a:bodyPr wrap="square" lIns="0" tIns="0" rIns="0" bIns="0" rtlCol="0" anchor="t"/>
          <a:lstStyle/>
          <a:p>
            <a:pPr marL="0" indent="0" algn="l">
              <a:lnSpc>
                <a:spcPts val="5850"/>
              </a:lnSpc>
              <a:buNone/>
            </a:pPr>
            <a:r>
              <a:rPr lang="en-US" sz="4650" b="1" dirty="0">
                <a:solidFill>
                  <a:srgbClr val="000000"/>
                </a:solidFill>
                <a:latin typeface="Calibri" panose="020F0502020204030204" pitchFamily="34" charset="0"/>
                <a:ea typeface="Petrona Bold" pitchFamily="34" charset="-122"/>
                <a:cs typeface="Calibri" panose="020F0502020204030204" pitchFamily="34" charset="0"/>
              </a:rPr>
              <a:t>Azure Connection Flow</a:t>
            </a:r>
            <a:endParaRPr lang="en-US" sz="4650" dirty="0">
              <a:latin typeface="Calibri" panose="020F0502020204030204" pitchFamily="34" charset="0"/>
              <a:cs typeface="Calibri" panose="020F0502020204030204" pitchFamily="34" charset="0"/>
            </a:endParaRPr>
          </a:p>
        </p:txBody>
      </p:sp>
      <p:sp>
        <p:nvSpPr>
          <p:cNvPr id="5" name="Text 1"/>
          <p:cNvSpPr/>
          <p:nvPr/>
        </p:nvSpPr>
        <p:spPr>
          <a:xfrm>
            <a:off x="793790" y="3236038"/>
            <a:ext cx="5727621" cy="217741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The flowchart with interconnected components highlights the relationships and data flow between various modules using labeled boxes and arrows. The hierarchical structure visually explains how different software elements interact within the system.</a:t>
            </a:r>
            <a:endParaRPr lang="en-US" sz="1750" dirty="0">
              <a:latin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977152"/>
            <a:ext cx="6743105"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Calibri" panose="020F0502020204030204" pitchFamily="34" charset="0"/>
                <a:ea typeface="Petrona Bold" pitchFamily="34" charset="-122"/>
                <a:cs typeface="Calibri" panose="020F0502020204030204" pitchFamily="34" charset="0"/>
              </a:rPr>
              <a:t>Development Challenges</a:t>
            </a:r>
            <a:endParaRPr lang="en-US" sz="4650" dirty="0">
              <a:latin typeface="Calibri" panose="020F0502020204030204" pitchFamily="34" charset="0"/>
              <a:cs typeface="Calibri" panose="020F0502020204030204" pitchFamily="34" charset="0"/>
            </a:endParaRPr>
          </a:p>
        </p:txBody>
      </p:sp>
      <p:sp>
        <p:nvSpPr>
          <p:cNvPr id="3" name="Shape 1"/>
          <p:cNvSpPr/>
          <p:nvPr/>
        </p:nvSpPr>
        <p:spPr>
          <a:xfrm>
            <a:off x="793790" y="3175040"/>
            <a:ext cx="510302" cy="510302"/>
          </a:xfrm>
          <a:prstGeom prst="roundRect">
            <a:avLst>
              <a:gd name="adj" fmla="val 18669"/>
            </a:avLst>
          </a:prstGeom>
          <a:solidFill>
            <a:srgbClr val="CCEEFF"/>
          </a:solidFill>
          <a:ln w="7620">
            <a:solidFill>
              <a:srgbClr val="B2D4E5"/>
            </a:solidFill>
            <a:prstDash val="solid"/>
          </a:ln>
        </p:spPr>
        <p:txBody>
          <a:bodyPr/>
          <a:lstStyle/>
          <a:p>
            <a:endParaRPr lang="en-US">
              <a:latin typeface="Calibri" panose="020F0502020204030204" pitchFamily="34" charset="0"/>
              <a:cs typeface="Calibri" panose="020F0502020204030204" pitchFamily="34" charset="0"/>
            </a:endParaRPr>
          </a:p>
        </p:txBody>
      </p:sp>
      <p:pic>
        <p:nvPicPr>
          <p:cNvPr id="4" name="Image 0" descr="preencoded.png"/>
          <p:cNvPicPr>
            <a:picLocks noChangeAspect="1"/>
          </p:cNvPicPr>
          <p:nvPr/>
        </p:nvPicPr>
        <p:blipFill>
          <a:blip r:embed="rId3"/>
          <a:stretch>
            <a:fillRect/>
          </a:stretch>
        </p:blipFill>
        <p:spPr>
          <a:xfrm>
            <a:off x="870347" y="3206948"/>
            <a:ext cx="357188" cy="446484"/>
          </a:xfrm>
          <a:prstGeom prst="rect">
            <a:avLst/>
          </a:prstGeom>
        </p:spPr>
      </p:pic>
      <p:sp>
        <p:nvSpPr>
          <p:cNvPr id="5" name="Text 2"/>
          <p:cNvSpPr/>
          <p:nvPr/>
        </p:nvSpPr>
        <p:spPr>
          <a:xfrm>
            <a:off x="1530906" y="3252907"/>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Calibri" panose="020F0502020204030204" pitchFamily="34" charset="0"/>
                <a:ea typeface="Petrona Bold" pitchFamily="34" charset="-122"/>
                <a:cs typeface="Calibri" panose="020F0502020204030204" pitchFamily="34" charset="0"/>
              </a:rPr>
              <a:t>Text Chunking</a:t>
            </a:r>
            <a:endParaRPr lang="en-US" sz="2300" dirty="0">
              <a:latin typeface="Calibri" panose="020F0502020204030204" pitchFamily="34" charset="0"/>
              <a:cs typeface="Calibri" panose="020F0502020204030204" pitchFamily="34" charset="0"/>
            </a:endParaRPr>
          </a:p>
        </p:txBody>
      </p:sp>
      <p:sp>
        <p:nvSpPr>
          <p:cNvPr id="6" name="Text 3"/>
          <p:cNvSpPr/>
          <p:nvPr/>
        </p:nvSpPr>
        <p:spPr>
          <a:xfrm>
            <a:off x="1530906" y="3761065"/>
            <a:ext cx="3421499"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Balancing chunk size for context and token limits</a:t>
            </a:r>
            <a:endParaRPr lang="en-US" sz="1750" dirty="0">
              <a:latin typeface="Calibri" panose="020F0502020204030204" pitchFamily="34" charset="0"/>
              <a:cs typeface="Calibri" panose="020F0502020204030204" pitchFamily="34" charset="0"/>
            </a:endParaRPr>
          </a:p>
        </p:txBody>
      </p:sp>
      <p:sp>
        <p:nvSpPr>
          <p:cNvPr id="7" name="Shape 4"/>
          <p:cNvSpPr/>
          <p:nvPr/>
        </p:nvSpPr>
        <p:spPr>
          <a:xfrm>
            <a:off x="5235893" y="3175040"/>
            <a:ext cx="510302" cy="510302"/>
          </a:xfrm>
          <a:prstGeom prst="roundRect">
            <a:avLst>
              <a:gd name="adj" fmla="val 18669"/>
            </a:avLst>
          </a:prstGeom>
          <a:solidFill>
            <a:srgbClr val="CCEEFF"/>
          </a:solidFill>
          <a:ln w="7620">
            <a:solidFill>
              <a:srgbClr val="B2D4E5"/>
            </a:solidFill>
            <a:prstDash val="solid"/>
          </a:ln>
        </p:spPr>
        <p:txBody>
          <a:bodyPr/>
          <a:lstStyle/>
          <a:p>
            <a:endParaRPr lang="en-US">
              <a:latin typeface="Calibri" panose="020F0502020204030204" pitchFamily="34" charset="0"/>
              <a:cs typeface="Calibri" panose="020F0502020204030204" pitchFamily="34" charset="0"/>
            </a:endParaRPr>
          </a:p>
        </p:txBody>
      </p:sp>
      <p:pic>
        <p:nvPicPr>
          <p:cNvPr id="8" name="Image 1" descr="preencoded.png"/>
          <p:cNvPicPr>
            <a:picLocks noChangeAspect="1"/>
          </p:cNvPicPr>
          <p:nvPr/>
        </p:nvPicPr>
        <p:blipFill>
          <a:blip r:embed="rId4"/>
          <a:stretch>
            <a:fillRect/>
          </a:stretch>
        </p:blipFill>
        <p:spPr>
          <a:xfrm>
            <a:off x="5312450" y="3206948"/>
            <a:ext cx="357188" cy="446484"/>
          </a:xfrm>
          <a:prstGeom prst="rect">
            <a:avLst/>
          </a:prstGeom>
        </p:spPr>
      </p:pic>
      <p:sp>
        <p:nvSpPr>
          <p:cNvPr id="9" name="Text 5"/>
          <p:cNvSpPr/>
          <p:nvPr/>
        </p:nvSpPr>
        <p:spPr>
          <a:xfrm>
            <a:off x="5973008" y="3252907"/>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Calibri" panose="020F0502020204030204" pitchFamily="34" charset="0"/>
                <a:ea typeface="Petrona Bold" pitchFamily="34" charset="-122"/>
                <a:cs typeface="Calibri" panose="020F0502020204030204" pitchFamily="34" charset="0"/>
              </a:rPr>
              <a:t>Prompt Fine-tuning</a:t>
            </a:r>
            <a:endParaRPr lang="en-US" sz="2300" dirty="0">
              <a:latin typeface="Calibri" panose="020F0502020204030204" pitchFamily="34" charset="0"/>
              <a:cs typeface="Calibri" panose="020F0502020204030204" pitchFamily="34" charset="0"/>
            </a:endParaRPr>
          </a:p>
        </p:txBody>
      </p:sp>
      <p:sp>
        <p:nvSpPr>
          <p:cNvPr id="10" name="Text 6"/>
          <p:cNvSpPr/>
          <p:nvPr/>
        </p:nvSpPr>
        <p:spPr>
          <a:xfrm>
            <a:off x="5973008" y="3761065"/>
            <a:ext cx="3421499"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Aligning responses with university tone and scope</a:t>
            </a:r>
            <a:endParaRPr lang="en-US" sz="1750" dirty="0">
              <a:latin typeface="Calibri" panose="020F0502020204030204" pitchFamily="34" charset="0"/>
              <a:cs typeface="Calibri" panose="020F0502020204030204" pitchFamily="34" charset="0"/>
            </a:endParaRPr>
          </a:p>
        </p:txBody>
      </p:sp>
      <p:sp>
        <p:nvSpPr>
          <p:cNvPr id="11" name="Shape 7"/>
          <p:cNvSpPr/>
          <p:nvPr/>
        </p:nvSpPr>
        <p:spPr>
          <a:xfrm>
            <a:off x="9677995" y="3175040"/>
            <a:ext cx="510302" cy="510302"/>
          </a:xfrm>
          <a:prstGeom prst="roundRect">
            <a:avLst>
              <a:gd name="adj" fmla="val 18669"/>
            </a:avLst>
          </a:prstGeom>
          <a:solidFill>
            <a:srgbClr val="CCEEFF"/>
          </a:solidFill>
          <a:ln w="7620">
            <a:solidFill>
              <a:srgbClr val="B2D4E5"/>
            </a:solidFill>
            <a:prstDash val="solid"/>
          </a:ln>
        </p:spPr>
        <p:txBody>
          <a:bodyPr/>
          <a:lstStyle/>
          <a:p>
            <a:endParaRPr lang="en-US">
              <a:latin typeface="Calibri" panose="020F0502020204030204" pitchFamily="34" charset="0"/>
              <a:cs typeface="Calibri" panose="020F0502020204030204" pitchFamily="34" charset="0"/>
            </a:endParaRPr>
          </a:p>
        </p:txBody>
      </p:sp>
      <p:pic>
        <p:nvPicPr>
          <p:cNvPr id="12" name="Image 2" descr="preencoded.png"/>
          <p:cNvPicPr>
            <a:picLocks noChangeAspect="1"/>
          </p:cNvPicPr>
          <p:nvPr/>
        </p:nvPicPr>
        <p:blipFill>
          <a:blip r:embed="rId5"/>
          <a:stretch>
            <a:fillRect/>
          </a:stretch>
        </p:blipFill>
        <p:spPr>
          <a:xfrm>
            <a:off x="9754552" y="3206948"/>
            <a:ext cx="357188" cy="446484"/>
          </a:xfrm>
          <a:prstGeom prst="rect">
            <a:avLst/>
          </a:prstGeom>
        </p:spPr>
      </p:pic>
      <p:sp>
        <p:nvSpPr>
          <p:cNvPr id="13" name="Text 8"/>
          <p:cNvSpPr/>
          <p:nvPr/>
        </p:nvSpPr>
        <p:spPr>
          <a:xfrm>
            <a:off x="10415111" y="3252907"/>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Calibri" panose="020F0502020204030204" pitchFamily="34" charset="0"/>
                <a:ea typeface="Petrona Bold" pitchFamily="34" charset="-122"/>
                <a:cs typeface="Calibri" panose="020F0502020204030204" pitchFamily="34" charset="0"/>
              </a:rPr>
              <a:t>Canvas Integration</a:t>
            </a:r>
            <a:endParaRPr lang="en-US" sz="2300" dirty="0">
              <a:latin typeface="Calibri" panose="020F0502020204030204" pitchFamily="34" charset="0"/>
              <a:cs typeface="Calibri" panose="020F0502020204030204" pitchFamily="34" charset="0"/>
            </a:endParaRPr>
          </a:p>
        </p:txBody>
      </p:sp>
      <p:sp>
        <p:nvSpPr>
          <p:cNvPr id="14" name="Text 9"/>
          <p:cNvSpPr/>
          <p:nvPr/>
        </p:nvSpPr>
        <p:spPr>
          <a:xfrm>
            <a:off x="10415111" y="3761065"/>
            <a:ext cx="3421499"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Handling API limits and dynamic content parsing</a:t>
            </a:r>
            <a:endParaRPr lang="en-US" sz="1750" dirty="0">
              <a:latin typeface="Calibri" panose="020F0502020204030204" pitchFamily="34" charset="0"/>
              <a:cs typeface="Calibri" panose="020F0502020204030204" pitchFamily="34" charset="0"/>
            </a:endParaRPr>
          </a:p>
        </p:txBody>
      </p:sp>
      <p:sp>
        <p:nvSpPr>
          <p:cNvPr id="15" name="Shape 10"/>
          <p:cNvSpPr/>
          <p:nvPr/>
        </p:nvSpPr>
        <p:spPr>
          <a:xfrm>
            <a:off x="793790" y="4940498"/>
            <a:ext cx="510302" cy="510302"/>
          </a:xfrm>
          <a:prstGeom prst="roundRect">
            <a:avLst>
              <a:gd name="adj" fmla="val 18669"/>
            </a:avLst>
          </a:prstGeom>
          <a:solidFill>
            <a:srgbClr val="CCEEFF"/>
          </a:solidFill>
          <a:ln w="7620">
            <a:solidFill>
              <a:srgbClr val="B2D4E5"/>
            </a:solidFill>
            <a:prstDash val="solid"/>
          </a:ln>
        </p:spPr>
        <p:txBody>
          <a:bodyPr/>
          <a:lstStyle/>
          <a:p>
            <a:endParaRPr lang="en-US">
              <a:latin typeface="Calibri" panose="020F0502020204030204" pitchFamily="34" charset="0"/>
              <a:cs typeface="Calibri" panose="020F0502020204030204" pitchFamily="34" charset="0"/>
            </a:endParaRPr>
          </a:p>
        </p:txBody>
      </p:sp>
      <p:pic>
        <p:nvPicPr>
          <p:cNvPr id="16" name="Image 3" descr="preencoded.png"/>
          <p:cNvPicPr>
            <a:picLocks noChangeAspect="1"/>
          </p:cNvPicPr>
          <p:nvPr/>
        </p:nvPicPr>
        <p:blipFill>
          <a:blip r:embed="rId6"/>
          <a:stretch>
            <a:fillRect/>
          </a:stretch>
        </p:blipFill>
        <p:spPr>
          <a:xfrm>
            <a:off x="870347" y="4972407"/>
            <a:ext cx="357188" cy="446484"/>
          </a:xfrm>
          <a:prstGeom prst="rect">
            <a:avLst/>
          </a:prstGeom>
        </p:spPr>
      </p:pic>
      <p:sp>
        <p:nvSpPr>
          <p:cNvPr id="17" name="Text 11"/>
          <p:cNvSpPr/>
          <p:nvPr/>
        </p:nvSpPr>
        <p:spPr>
          <a:xfrm>
            <a:off x="1530906" y="501836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Calibri" panose="020F0502020204030204" pitchFamily="34" charset="0"/>
                <a:ea typeface="Petrona Bold" pitchFamily="34" charset="-122"/>
                <a:cs typeface="Calibri" panose="020F0502020204030204" pitchFamily="34" charset="0"/>
              </a:rPr>
              <a:t>Data Privacy</a:t>
            </a:r>
            <a:endParaRPr lang="en-US" sz="2300" dirty="0">
              <a:latin typeface="Calibri" panose="020F0502020204030204" pitchFamily="34" charset="0"/>
              <a:cs typeface="Calibri" panose="020F0502020204030204" pitchFamily="34" charset="0"/>
            </a:endParaRPr>
          </a:p>
        </p:txBody>
      </p:sp>
      <p:sp>
        <p:nvSpPr>
          <p:cNvPr id="18" name="Text 12"/>
          <p:cNvSpPr/>
          <p:nvPr/>
        </p:nvSpPr>
        <p:spPr>
          <a:xfrm>
            <a:off x="1530906" y="5526524"/>
            <a:ext cx="5642610"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Ensuring approved, non-sensitive content only</a:t>
            </a:r>
            <a:endParaRPr lang="en-US" sz="1750" dirty="0">
              <a:latin typeface="Calibri" panose="020F0502020204030204" pitchFamily="34" charset="0"/>
              <a:cs typeface="Calibri" panose="020F0502020204030204" pitchFamily="34" charset="0"/>
            </a:endParaRPr>
          </a:p>
        </p:txBody>
      </p:sp>
      <p:sp>
        <p:nvSpPr>
          <p:cNvPr id="19" name="Shape 13"/>
          <p:cNvSpPr/>
          <p:nvPr/>
        </p:nvSpPr>
        <p:spPr>
          <a:xfrm>
            <a:off x="7457003" y="4940498"/>
            <a:ext cx="510302" cy="510302"/>
          </a:xfrm>
          <a:prstGeom prst="roundRect">
            <a:avLst>
              <a:gd name="adj" fmla="val 18669"/>
            </a:avLst>
          </a:prstGeom>
          <a:solidFill>
            <a:srgbClr val="CCEEFF"/>
          </a:solidFill>
          <a:ln w="7620">
            <a:solidFill>
              <a:srgbClr val="B2D4E5"/>
            </a:solidFill>
            <a:prstDash val="solid"/>
          </a:ln>
        </p:spPr>
        <p:txBody>
          <a:bodyPr/>
          <a:lstStyle/>
          <a:p>
            <a:endParaRPr lang="en-US">
              <a:latin typeface="Calibri" panose="020F0502020204030204" pitchFamily="34" charset="0"/>
              <a:cs typeface="Calibri" panose="020F0502020204030204" pitchFamily="34" charset="0"/>
            </a:endParaRPr>
          </a:p>
        </p:txBody>
      </p:sp>
      <p:pic>
        <p:nvPicPr>
          <p:cNvPr id="20" name="Image 4" descr="preencoded.png"/>
          <p:cNvPicPr>
            <a:picLocks noChangeAspect="1"/>
          </p:cNvPicPr>
          <p:nvPr/>
        </p:nvPicPr>
        <p:blipFill>
          <a:blip r:embed="rId7"/>
          <a:stretch>
            <a:fillRect/>
          </a:stretch>
        </p:blipFill>
        <p:spPr>
          <a:xfrm>
            <a:off x="7533561" y="4972407"/>
            <a:ext cx="357188" cy="446484"/>
          </a:xfrm>
          <a:prstGeom prst="rect">
            <a:avLst/>
          </a:prstGeom>
        </p:spPr>
      </p:pic>
      <p:sp>
        <p:nvSpPr>
          <p:cNvPr id="21" name="Text 14"/>
          <p:cNvSpPr/>
          <p:nvPr/>
        </p:nvSpPr>
        <p:spPr>
          <a:xfrm>
            <a:off x="8194119" y="501836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272525"/>
                </a:solidFill>
                <a:latin typeface="Calibri" panose="020F0502020204030204" pitchFamily="34" charset="0"/>
                <a:ea typeface="Petrona Bold" pitchFamily="34" charset="-122"/>
                <a:cs typeface="Calibri" panose="020F0502020204030204" pitchFamily="34" charset="0"/>
              </a:rPr>
              <a:t>Azure Deployment</a:t>
            </a:r>
            <a:endParaRPr lang="en-US" sz="2300" dirty="0">
              <a:latin typeface="Calibri" panose="020F0502020204030204" pitchFamily="34" charset="0"/>
              <a:cs typeface="Calibri" panose="020F0502020204030204" pitchFamily="34" charset="0"/>
            </a:endParaRPr>
          </a:p>
        </p:txBody>
      </p:sp>
      <p:sp>
        <p:nvSpPr>
          <p:cNvPr id="22" name="Text 15"/>
          <p:cNvSpPr/>
          <p:nvPr/>
        </p:nvSpPr>
        <p:spPr>
          <a:xfrm>
            <a:off x="8194119" y="5526524"/>
            <a:ext cx="5642610" cy="725805"/>
          </a:xfrm>
          <a:prstGeom prst="rect">
            <a:avLst/>
          </a:prstGeom>
          <a:noFill/>
          <a:ln/>
        </p:spPr>
        <p:txBody>
          <a:bodyPr wrap="squar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Cost-effective, secure architecture under resource limits</a:t>
            </a:r>
            <a:endParaRPr lang="en-US" sz="1750" dirty="0">
              <a:latin typeface="Calibri" panose="020F0502020204030204" pitchFamily="34"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06041" y="556379"/>
            <a:ext cx="5366742" cy="661988"/>
          </a:xfrm>
          <a:prstGeom prst="rect">
            <a:avLst/>
          </a:prstGeom>
          <a:noFill/>
          <a:ln/>
        </p:spPr>
        <p:txBody>
          <a:bodyPr wrap="none" lIns="0" tIns="0" rIns="0" bIns="0" rtlCol="0" anchor="t"/>
          <a:lstStyle/>
          <a:p>
            <a:pPr marL="0" indent="0" algn="l">
              <a:lnSpc>
                <a:spcPts val="5200"/>
              </a:lnSpc>
              <a:buNone/>
            </a:pPr>
            <a:r>
              <a:rPr lang="en-US" sz="4150" b="1" dirty="0">
                <a:solidFill>
                  <a:srgbClr val="000000"/>
                </a:solidFill>
                <a:latin typeface="Calibri" panose="020F0502020204030204" pitchFamily="34" charset="0"/>
                <a:ea typeface="Petrona Bold" pitchFamily="34" charset="-122"/>
                <a:cs typeface="Calibri" panose="020F0502020204030204" pitchFamily="34" charset="0"/>
              </a:rPr>
              <a:t>Future Enhancements</a:t>
            </a:r>
            <a:endParaRPr lang="en-US" sz="4150" dirty="0">
              <a:latin typeface="Calibri" panose="020F0502020204030204" pitchFamily="34" charset="0"/>
              <a:cs typeface="Calibri" panose="020F0502020204030204" pitchFamily="34" charset="0"/>
            </a:endParaRPr>
          </a:p>
        </p:txBody>
      </p:sp>
      <p:pic>
        <p:nvPicPr>
          <p:cNvPr id="3" name="Image 0" descr="preencoded.png"/>
          <p:cNvPicPr>
            <a:picLocks noChangeAspect="1"/>
          </p:cNvPicPr>
          <p:nvPr/>
        </p:nvPicPr>
        <p:blipFill>
          <a:blip r:embed="rId3"/>
          <a:stretch>
            <a:fillRect/>
          </a:stretch>
        </p:blipFill>
        <p:spPr>
          <a:xfrm>
            <a:off x="706041" y="1621750"/>
            <a:ext cx="1008578" cy="1210270"/>
          </a:xfrm>
          <a:prstGeom prst="rect">
            <a:avLst/>
          </a:prstGeom>
        </p:spPr>
      </p:pic>
      <p:sp>
        <p:nvSpPr>
          <p:cNvPr id="4" name="Text 1"/>
          <p:cNvSpPr/>
          <p:nvPr/>
        </p:nvSpPr>
        <p:spPr>
          <a:xfrm>
            <a:off x="2017157" y="1823442"/>
            <a:ext cx="2647712" cy="330994"/>
          </a:xfrm>
          <a:prstGeom prst="rect">
            <a:avLst/>
          </a:prstGeom>
          <a:noFill/>
          <a:ln/>
        </p:spPr>
        <p:txBody>
          <a:bodyPr wrap="none" lIns="0" tIns="0" rIns="0" bIns="0" rtlCol="0" anchor="t"/>
          <a:lstStyle/>
          <a:p>
            <a:pPr marL="0" indent="0" algn="l">
              <a:lnSpc>
                <a:spcPts val="2600"/>
              </a:lnSpc>
              <a:buNone/>
            </a:pPr>
            <a:r>
              <a:rPr lang="en-US" sz="2050" b="1" dirty="0">
                <a:solidFill>
                  <a:srgbClr val="272525"/>
                </a:solidFill>
                <a:latin typeface="Calibri" panose="020F0502020204030204" pitchFamily="34" charset="0"/>
                <a:ea typeface="Petrona Bold" pitchFamily="34" charset="-122"/>
                <a:cs typeface="Calibri" panose="020F0502020204030204" pitchFamily="34" charset="0"/>
              </a:rPr>
              <a:t>Voice Capabilities</a:t>
            </a:r>
            <a:endParaRPr lang="en-US" sz="2050" dirty="0">
              <a:latin typeface="Calibri" panose="020F0502020204030204" pitchFamily="34" charset="0"/>
              <a:cs typeface="Calibri" panose="020F0502020204030204" pitchFamily="34" charset="0"/>
            </a:endParaRPr>
          </a:p>
        </p:txBody>
      </p:sp>
      <p:sp>
        <p:nvSpPr>
          <p:cNvPr id="5" name="Text 2"/>
          <p:cNvSpPr/>
          <p:nvPr/>
        </p:nvSpPr>
        <p:spPr>
          <a:xfrm>
            <a:off x="2017157" y="2275403"/>
            <a:ext cx="11907203" cy="322659"/>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Calibri" panose="020F0502020204030204" pitchFamily="34" charset="0"/>
                <a:ea typeface="Inter" pitchFamily="34" charset="-122"/>
                <a:cs typeface="Calibri" panose="020F0502020204030204" pitchFamily="34" charset="0"/>
              </a:rPr>
              <a:t>Voice input/output for accessibility and hands-free use</a:t>
            </a:r>
            <a:endParaRPr lang="en-US" sz="1550" dirty="0">
              <a:latin typeface="Calibri" panose="020F0502020204030204" pitchFamily="34" charset="0"/>
              <a:cs typeface="Calibri" panose="020F0502020204030204" pitchFamily="34" charset="0"/>
            </a:endParaRPr>
          </a:p>
        </p:txBody>
      </p:sp>
      <p:pic>
        <p:nvPicPr>
          <p:cNvPr id="6" name="Image 1" descr="preencoded.png"/>
          <p:cNvPicPr>
            <a:picLocks noChangeAspect="1"/>
          </p:cNvPicPr>
          <p:nvPr/>
        </p:nvPicPr>
        <p:blipFill>
          <a:blip r:embed="rId4"/>
          <a:stretch>
            <a:fillRect/>
          </a:stretch>
        </p:blipFill>
        <p:spPr>
          <a:xfrm>
            <a:off x="706041" y="2832021"/>
            <a:ext cx="1008578" cy="1210270"/>
          </a:xfrm>
          <a:prstGeom prst="rect">
            <a:avLst/>
          </a:prstGeom>
        </p:spPr>
      </p:pic>
      <p:sp>
        <p:nvSpPr>
          <p:cNvPr id="7" name="Text 3"/>
          <p:cNvSpPr/>
          <p:nvPr/>
        </p:nvSpPr>
        <p:spPr>
          <a:xfrm>
            <a:off x="2017157" y="3033713"/>
            <a:ext cx="2647712" cy="330994"/>
          </a:xfrm>
          <a:prstGeom prst="rect">
            <a:avLst/>
          </a:prstGeom>
          <a:noFill/>
          <a:ln/>
        </p:spPr>
        <p:txBody>
          <a:bodyPr wrap="none" lIns="0" tIns="0" rIns="0" bIns="0" rtlCol="0" anchor="t"/>
          <a:lstStyle/>
          <a:p>
            <a:pPr marL="0" indent="0" algn="l">
              <a:lnSpc>
                <a:spcPts val="2600"/>
              </a:lnSpc>
              <a:buNone/>
            </a:pPr>
            <a:r>
              <a:rPr lang="en-US" sz="2050" b="1" dirty="0">
                <a:solidFill>
                  <a:srgbClr val="272525"/>
                </a:solidFill>
                <a:latin typeface="Calibri" panose="020F0502020204030204" pitchFamily="34" charset="0"/>
                <a:ea typeface="Petrona Bold" pitchFamily="34" charset="-122"/>
                <a:cs typeface="Calibri" panose="020F0502020204030204" pitchFamily="34" charset="0"/>
              </a:rPr>
              <a:t>Content Expansion</a:t>
            </a:r>
            <a:endParaRPr lang="en-US" sz="2050" dirty="0">
              <a:latin typeface="Calibri" panose="020F0502020204030204" pitchFamily="34" charset="0"/>
              <a:cs typeface="Calibri" panose="020F0502020204030204" pitchFamily="34" charset="0"/>
            </a:endParaRPr>
          </a:p>
        </p:txBody>
      </p:sp>
      <p:sp>
        <p:nvSpPr>
          <p:cNvPr id="8" name="Text 4"/>
          <p:cNvSpPr/>
          <p:nvPr/>
        </p:nvSpPr>
        <p:spPr>
          <a:xfrm>
            <a:off x="2017157" y="3485674"/>
            <a:ext cx="11907203" cy="322659"/>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Calibri" panose="020F0502020204030204" pitchFamily="34" charset="0"/>
                <a:ea typeface="Inter" pitchFamily="34" charset="-122"/>
                <a:cs typeface="Calibri" panose="020F0502020204030204" pitchFamily="34" charset="0"/>
              </a:rPr>
              <a:t>Include more university departments for broader support</a:t>
            </a:r>
            <a:endParaRPr lang="en-US" sz="1550" dirty="0">
              <a:latin typeface="Calibri" panose="020F0502020204030204" pitchFamily="34" charset="0"/>
              <a:cs typeface="Calibri" panose="020F0502020204030204" pitchFamily="34" charset="0"/>
            </a:endParaRPr>
          </a:p>
        </p:txBody>
      </p:sp>
      <p:pic>
        <p:nvPicPr>
          <p:cNvPr id="9" name="Image 2" descr="preencoded.png"/>
          <p:cNvPicPr>
            <a:picLocks noChangeAspect="1"/>
          </p:cNvPicPr>
          <p:nvPr/>
        </p:nvPicPr>
        <p:blipFill>
          <a:blip r:embed="rId5"/>
          <a:stretch>
            <a:fillRect/>
          </a:stretch>
        </p:blipFill>
        <p:spPr>
          <a:xfrm>
            <a:off x="706041" y="4042291"/>
            <a:ext cx="1008578" cy="1210270"/>
          </a:xfrm>
          <a:prstGeom prst="rect">
            <a:avLst/>
          </a:prstGeom>
        </p:spPr>
      </p:pic>
      <p:sp>
        <p:nvSpPr>
          <p:cNvPr id="10" name="Text 5"/>
          <p:cNvSpPr/>
          <p:nvPr/>
        </p:nvSpPr>
        <p:spPr>
          <a:xfrm>
            <a:off x="2017157" y="4243983"/>
            <a:ext cx="2647712" cy="330994"/>
          </a:xfrm>
          <a:prstGeom prst="rect">
            <a:avLst/>
          </a:prstGeom>
          <a:noFill/>
          <a:ln/>
        </p:spPr>
        <p:txBody>
          <a:bodyPr wrap="none" lIns="0" tIns="0" rIns="0" bIns="0" rtlCol="0" anchor="t"/>
          <a:lstStyle/>
          <a:p>
            <a:pPr marL="0" indent="0" algn="l">
              <a:lnSpc>
                <a:spcPts val="2600"/>
              </a:lnSpc>
              <a:buNone/>
            </a:pPr>
            <a:r>
              <a:rPr lang="en-US" sz="2050" b="1" dirty="0">
                <a:solidFill>
                  <a:srgbClr val="272525"/>
                </a:solidFill>
                <a:latin typeface="Calibri" panose="020F0502020204030204" pitchFamily="34" charset="0"/>
                <a:ea typeface="Petrona Bold" pitchFamily="34" charset="-122"/>
                <a:cs typeface="Calibri" panose="020F0502020204030204" pitchFamily="34" charset="0"/>
              </a:rPr>
              <a:t>Feedback Collection</a:t>
            </a:r>
            <a:endParaRPr lang="en-US" sz="2050" dirty="0">
              <a:latin typeface="Calibri" panose="020F0502020204030204" pitchFamily="34" charset="0"/>
              <a:cs typeface="Calibri" panose="020F0502020204030204" pitchFamily="34" charset="0"/>
            </a:endParaRPr>
          </a:p>
        </p:txBody>
      </p:sp>
      <p:sp>
        <p:nvSpPr>
          <p:cNvPr id="11" name="Text 6"/>
          <p:cNvSpPr/>
          <p:nvPr/>
        </p:nvSpPr>
        <p:spPr>
          <a:xfrm>
            <a:off x="2017157" y="4695944"/>
            <a:ext cx="11907203" cy="322659"/>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Calibri" panose="020F0502020204030204" pitchFamily="34" charset="0"/>
                <a:ea typeface="Inter" pitchFamily="34" charset="-122"/>
                <a:cs typeface="Calibri" panose="020F0502020204030204" pitchFamily="34" charset="0"/>
              </a:rPr>
              <a:t>Real-time ratings to improve chatbot responses</a:t>
            </a:r>
            <a:endParaRPr lang="en-US" sz="1550" dirty="0">
              <a:latin typeface="Calibri" panose="020F0502020204030204" pitchFamily="34" charset="0"/>
              <a:cs typeface="Calibri" panose="020F0502020204030204" pitchFamily="34" charset="0"/>
            </a:endParaRPr>
          </a:p>
        </p:txBody>
      </p:sp>
      <p:pic>
        <p:nvPicPr>
          <p:cNvPr id="12" name="Image 3" descr="preencoded.png"/>
          <p:cNvPicPr>
            <a:picLocks noChangeAspect="1"/>
          </p:cNvPicPr>
          <p:nvPr/>
        </p:nvPicPr>
        <p:blipFill>
          <a:blip r:embed="rId6"/>
          <a:stretch>
            <a:fillRect/>
          </a:stretch>
        </p:blipFill>
        <p:spPr>
          <a:xfrm>
            <a:off x="706041" y="5252561"/>
            <a:ext cx="1008578" cy="1210270"/>
          </a:xfrm>
          <a:prstGeom prst="rect">
            <a:avLst/>
          </a:prstGeom>
        </p:spPr>
      </p:pic>
      <p:sp>
        <p:nvSpPr>
          <p:cNvPr id="13" name="Text 7"/>
          <p:cNvSpPr/>
          <p:nvPr/>
        </p:nvSpPr>
        <p:spPr>
          <a:xfrm>
            <a:off x="2017157" y="5454253"/>
            <a:ext cx="2647712" cy="330994"/>
          </a:xfrm>
          <a:prstGeom prst="rect">
            <a:avLst/>
          </a:prstGeom>
          <a:noFill/>
          <a:ln/>
        </p:spPr>
        <p:txBody>
          <a:bodyPr wrap="none" lIns="0" tIns="0" rIns="0" bIns="0" rtlCol="0" anchor="t"/>
          <a:lstStyle/>
          <a:p>
            <a:pPr marL="0" indent="0" algn="l">
              <a:lnSpc>
                <a:spcPts val="2600"/>
              </a:lnSpc>
              <a:buNone/>
            </a:pPr>
            <a:r>
              <a:rPr lang="en-US" sz="2050" b="1" dirty="0">
                <a:solidFill>
                  <a:srgbClr val="272525"/>
                </a:solidFill>
                <a:latin typeface="Calibri" panose="020F0502020204030204" pitchFamily="34" charset="0"/>
                <a:ea typeface="Petrona Bold" pitchFamily="34" charset="-122"/>
                <a:cs typeface="Calibri" panose="020F0502020204030204" pitchFamily="34" charset="0"/>
              </a:rPr>
              <a:t>Widget Integration</a:t>
            </a:r>
            <a:endParaRPr lang="en-US" sz="2050" dirty="0">
              <a:latin typeface="Calibri" panose="020F0502020204030204" pitchFamily="34" charset="0"/>
              <a:cs typeface="Calibri" panose="020F0502020204030204" pitchFamily="34" charset="0"/>
            </a:endParaRPr>
          </a:p>
        </p:txBody>
      </p:sp>
      <p:sp>
        <p:nvSpPr>
          <p:cNvPr id="14" name="Text 8"/>
          <p:cNvSpPr/>
          <p:nvPr/>
        </p:nvSpPr>
        <p:spPr>
          <a:xfrm>
            <a:off x="2017157" y="5906214"/>
            <a:ext cx="11907203" cy="322659"/>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Calibri" panose="020F0502020204030204" pitchFamily="34" charset="0"/>
                <a:ea typeface="Inter" pitchFamily="34" charset="-122"/>
                <a:cs typeface="Calibri" panose="020F0502020204030204" pitchFamily="34" charset="0"/>
              </a:rPr>
              <a:t>Embed chatbot as side widget in Canvas LMS</a:t>
            </a:r>
            <a:endParaRPr lang="en-US" sz="1550" dirty="0">
              <a:latin typeface="Calibri" panose="020F0502020204030204" pitchFamily="34" charset="0"/>
              <a:cs typeface="Calibri" panose="020F0502020204030204" pitchFamily="34" charset="0"/>
            </a:endParaRPr>
          </a:p>
        </p:txBody>
      </p:sp>
      <p:pic>
        <p:nvPicPr>
          <p:cNvPr id="15" name="Image 4" descr="preencoded.png"/>
          <p:cNvPicPr>
            <a:picLocks noChangeAspect="1"/>
          </p:cNvPicPr>
          <p:nvPr/>
        </p:nvPicPr>
        <p:blipFill>
          <a:blip r:embed="rId7"/>
          <a:stretch>
            <a:fillRect/>
          </a:stretch>
        </p:blipFill>
        <p:spPr>
          <a:xfrm>
            <a:off x="706041" y="6462832"/>
            <a:ext cx="1008578" cy="1210270"/>
          </a:xfrm>
          <a:prstGeom prst="rect">
            <a:avLst/>
          </a:prstGeom>
        </p:spPr>
      </p:pic>
      <p:sp>
        <p:nvSpPr>
          <p:cNvPr id="16" name="Text 9"/>
          <p:cNvSpPr/>
          <p:nvPr/>
        </p:nvSpPr>
        <p:spPr>
          <a:xfrm>
            <a:off x="2017157" y="6664523"/>
            <a:ext cx="2647712" cy="330994"/>
          </a:xfrm>
          <a:prstGeom prst="rect">
            <a:avLst/>
          </a:prstGeom>
          <a:noFill/>
          <a:ln/>
        </p:spPr>
        <p:txBody>
          <a:bodyPr wrap="none" lIns="0" tIns="0" rIns="0" bIns="0" rtlCol="0" anchor="t"/>
          <a:lstStyle/>
          <a:p>
            <a:pPr marL="0" indent="0" algn="l">
              <a:lnSpc>
                <a:spcPts val="2600"/>
              </a:lnSpc>
              <a:buNone/>
            </a:pPr>
            <a:r>
              <a:rPr lang="en-US" sz="2050" b="1" dirty="0">
                <a:solidFill>
                  <a:srgbClr val="272525"/>
                </a:solidFill>
                <a:latin typeface="Calibri" panose="020F0502020204030204" pitchFamily="34" charset="0"/>
                <a:ea typeface="Petrona Bold" pitchFamily="34" charset="-122"/>
                <a:cs typeface="Calibri" panose="020F0502020204030204" pitchFamily="34" charset="0"/>
              </a:rPr>
              <a:t>Mobile App</a:t>
            </a:r>
            <a:endParaRPr lang="en-US" sz="2050" dirty="0">
              <a:latin typeface="Calibri" panose="020F0502020204030204" pitchFamily="34" charset="0"/>
              <a:cs typeface="Calibri" panose="020F0502020204030204" pitchFamily="34" charset="0"/>
            </a:endParaRPr>
          </a:p>
        </p:txBody>
      </p:sp>
      <p:sp>
        <p:nvSpPr>
          <p:cNvPr id="17" name="Text 10"/>
          <p:cNvSpPr/>
          <p:nvPr/>
        </p:nvSpPr>
        <p:spPr>
          <a:xfrm>
            <a:off x="2017157" y="7116485"/>
            <a:ext cx="11907203" cy="322659"/>
          </a:xfrm>
          <a:prstGeom prst="rect">
            <a:avLst/>
          </a:prstGeom>
          <a:noFill/>
          <a:ln/>
        </p:spPr>
        <p:txBody>
          <a:bodyPr wrap="none" lIns="0" tIns="0" rIns="0" bIns="0" rtlCol="0" anchor="t"/>
          <a:lstStyle/>
          <a:p>
            <a:pPr marL="0" indent="0" algn="l">
              <a:lnSpc>
                <a:spcPts val="2500"/>
              </a:lnSpc>
              <a:buNone/>
            </a:pPr>
            <a:r>
              <a:rPr lang="en-US" sz="1550" dirty="0">
                <a:solidFill>
                  <a:srgbClr val="272525"/>
                </a:solidFill>
                <a:latin typeface="Calibri" panose="020F0502020204030204" pitchFamily="34" charset="0"/>
                <a:ea typeface="Inter" pitchFamily="34" charset="-122"/>
                <a:cs typeface="Calibri" panose="020F0502020204030204" pitchFamily="34" charset="0"/>
              </a:rPr>
              <a:t>Push notifications and chatbot in university app</a:t>
            </a:r>
            <a:endParaRPr lang="en-US" sz="1550" dirty="0">
              <a:latin typeface="Calibri" panose="020F0502020204030204" pitchFamily="34" charset="0"/>
              <a:cs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3391138"/>
            <a:ext cx="5954197" cy="744260"/>
          </a:xfrm>
          <a:prstGeom prst="rect">
            <a:avLst/>
          </a:prstGeom>
          <a:noFill/>
          <a:ln/>
        </p:spPr>
        <p:txBody>
          <a:bodyPr wrap="none" lIns="0" tIns="0" rIns="0" bIns="0" rtlCol="0" anchor="t"/>
          <a:lstStyle/>
          <a:p>
            <a:pPr marL="0" indent="0" algn="l">
              <a:lnSpc>
                <a:spcPts val="5850"/>
              </a:lnSpc>
              <a:buNone/>
            </a:pPr>
            <a:r>
              <a:rPr lang="en-US" sz="4650" b="1" dirty="0">
                <a:solidFill>
                  <a:srgbClr val="000000"/>
                </a:solidFill>
                <a:latin typeface="Calibri" panose="020F0502020204030204" pitchFamily="34" charset="0"/>
                <a:ea typeface="Petrona Bold" pitchFamily="34" charset="-122"/>
                <a:cs typeface="Calibri" panose="020F0502020204030204" pitchFamily="34" charset="0"/>
              </a:rPr>
              <a:t>Thank You</a:t>
            </a:r>
            <a:endParaRPr lang="en-US" sz="4650" dirty="0">
              <a:latin typeface="Calibri" panose="020F0502020204030204" pitchFamily="34" charset="0"/>
              <a:cs typeface="Calibri" panose="020F0502020204030204" pitchFamily="34" charset="0"/>
            </a:endParaRPr>
          </a:p>
        </p:txBody>
      </p:sp>
      <p:sp>
        <p:nvSpPr>
          <p:cNvPr id="4" name="Text 1"/>
          <p:cNvSpPr/>
          <p:nvPr/>
        </p:nvSpPr>
        <p:spPr>
          <a:xfrm>
            <a:off x="793790" y="4475559"/>
            <a:ext cx="7556421" cy="362903"/>
          </a:xfrm>
          <a:prstGeom prst="rect">
            <a:avLst/>
          </a:prstGeom>
          <a:noFill/>
          <a:ln/>
        </p:spPr>
        <p:txBody>
          <a:bodyPr wrap="none" lIns="0" tIns="0" rIns="0" bIns="0" rtlCol="0" anchor="t"/>
          <a:lstStyle/>
          <a:p>
            <a:pPr marL="0" indent="0" algn="l">
              <a:lnSpc>
                <a:spcPts val="2850"/>
              </a:lnSpc>
              <a:buNone/>
            </a:pPr>
            <a:r>
              <a:rPr lang="en-US" sz="1750" dirty="0">
                <a:solidFill>
                  <a:srgbClr val="272525"/>
                </a:solidFill>
                <a:latin typeface="Calibri" panose="020F0502020204030204" pitchFamily="34" charset="0"/>
                <a:ea typeface="Inter" pitchFamily="34" charset="-122"/>
                <a:cs typeface="Calibri" panose="020F0502020204030204" pitchFamily="34" charset="0"/>
              </a:rPr>
              <a:t>Questions and feedback are welcome</a:t>
            </a:r>
            <a:endParaRPr lang="en-US" sz="1750" dirty="0">
              <a:latin typeface="Calibri" panose="020F0502020204030204" pitchFamily="34" charset="0"/>
              <a:cs typeface="Calibri" panose="020F0502020204030204"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800</TotalTime>
  <Words>272</Words>
  <Application>Microsoft Macintosh PowerPoint</Application>
  <PresentationFormat>Custom</PresentationFormat>
  <Paragraphs>52</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Dheeraj Shankar [student]</cp:lastModifiedBy>
  <cp:revision>5</cp:revision>
  <dcterms:created xsi:type="dcterms:W3CDTF">2025-05-02T03:55:57Z</dcterms:created>
  <dcterms:modified xsi:type="dcterms:W3CDTF">2025-05-02T17:21:06Z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7d5cc670-d7c5-4a29-b4fe-6ff77de08631_Enabled">
    <vt:lpwstr>true</vt:lpwstr>
  </property>
  <property fmtid="{D5CDD505-2E9C-101B-9397-08002B2CF9AE}" pid="3" name="MSIP_Label_7d5cc670-d7c5-4a29-b4fe-6ff77de08631_SetDate">
    <vt:lpwstr>2025-05-02T04:00:51Z</vt:lpwstr>
  </property>
  <property fmtid="{D5CDD505-2E9C-101B-9397-08002B2CF9AE}" pid="4" name="MSIP_Label_7d5cc670-d7c5-4a29-b4fe-6ff77de08631_Method">
    <vt:lpwstr>Standard</vt:lpwstr>
  </property>
  <property fmtid="{D5CDD505-2E9C-101B-9397-08002B2CF9AE}" pid="5" name="MSIP_Label_7d5cc670-d7c5-4a29-b4fe-6ff77de08631_Name">
    <vt:lpwstr>Internal</vt:lpwstr>
  </property>
  <property fmtid="{D5CDD505-2E9C-101B-9397-08002B2CF9AE}" pid="6" name="MSIP_Label_7d5cc670-d7c5-4a29-b4fe-6ff77de08631_SiteId">
    <vt:lpwstr>04c70eb4-8f26-4807-9934-e02e89266ad0</vt:lpwstr>
  </property>
  <property fmtid="{D5CDD505-2E9C-101B-9397-08002B2CF9AE}" pid="7" name="MSIP_Label_7d5cc670-d7c5-4a29-b4fe-6ff77de08631_ActionId">
    <vt:lpwstr>d99cca9d-5e40-4bf1-85ac-16a7a77ebfb7</vt:lpwstr>
  </property>
  <property fmtid="{D5CDD505-2E9C-101B-9397-08002B2CF9AE}" pid="8" name="MSIP_Label_7d5cc670-d7c5-4a29-b4fe-6ff77de08631_ContentBits">
    <vt:lpwstr>0</vt:lpwstr>
  </property>
  <property fmtid="{D5CDD505-2E9C-101B-9397-08002B2CF9AE}" pid="9" name="MSIP_Label_7d5cc670-d7c5-4a29-b4fe-6ff77de08631_Tag">
    <vt:lpwstr>50, 3, 0, 1</vt:lpwstr>
  </property>
</Properties>
</file>